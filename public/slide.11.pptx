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4"/>
  </p:notesMasterIdLst>
  <p:sldIdLst>
    <p:sldId id="290" r:id="rId5"/>
    <p:sldId id="291" r:id="rId6"/>
    <p:sldId id="292" r:id="rId7"/>
    <p:sldId id="293" r:id="rId8"/>
    <p:sldId id="294" r:id="rId9"/>
    <p:sldId id="295" r:id="rId10"/>
    <p:sldId id="300" r:id="rId11"/>
    <p:sldId id="298" r:id="rId12"/>
    <p:sldId id="299" r:id="rId13"/>
    <p:sldId id="307" r:id="rId14"/>
    <p:sldId id="302" r:id="rId15"/>
    <p:sldId id="296" r:id="rId16"/>
    <p:sldId id="301" r:id="rId17"/>
    <p:sldId id="297" r:id="rId18"/>
    <p:sldId id="305" r:id="rId19"/>
    <p:sldId id="306" r:id="rId20"/>
    <p:sldId id="303" r:id="rId21"/>
    <p:sldId id="304" r:id="rId22"/>
    <p:sldId id="25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47" autoAdjust="0"/>
  </p:normalViewPr>
  <p:slideViewPr>
    <p:cSldViewPr>
      <p:cViewPr varScale="1">
        <p:scale>
          <a:sx n="75" d="100"/>
          <a:sy n="75" d="100"/>
        </p:scale>
        <p:origin x="1666"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072DBD-0558-446A-880A-8866B0EE7860}" type="datetimeFigureOut">
              <a:rPr lang="en-US" smtClean="0"/>
              <a:t>11/26/2025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18C0ED-8D7C-4DA4-B6F2-0AFEA9BD0501}" type="slidenum">
              <a:rPr lang="en-US" smtClean="0"/>
              <a:t>‹N°›</a:t>
            </a:fld>
            <a:endParaRPr lang="en-US"/>
          </a:p>
        </p:txBody>
      </p:sp>
    </p:spTree>
    <p:extLst>
      <p:ext uri="{BB962C8B-B14F-4D97-AF65-F5344CB8AC3E}">
        <p14:creationId xmlns:p14="http://schemas.microsoft.com/office/powerpoint/2010/main" val="1879297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https://cloud.google.com/learn/what-is-iaas?hl=en</a:t>
            </a:r>
          </a:p>
        </p:txBody>
      </p:sp>
      <p:sp>
        <p:nvSpPr>
          <p:cNvPr id="4" name="Slide Number Placeholder 3"/>
          <p:cNvSpPr>
            <a:spLocks noGrp="1"/>
          </p:cNvSpPr>
          <p:nvPr>
            <p:ph type="sldNum" sz="quarter" idx="5"/>
          </p:nvPr>
        </p:nvSpPr>
        <p:spPr/>
        <p:txBody>
          <a:bodyPr/>
          <a:lstStyle/>
          <a:p>
            <a:fld id="{4F18C0ED-8D7C-4DA4-B6F2-0AFEA9BD0501}" type="slidenum">
              <a:rPr lang="en-US" smtClean="0"/>
              <a:t>3</a:t>
            </a:fld>
            <a:endParaRPr lang="en-US"/>
          </a:p>
        </p:txBody>
      </p:sp>
    </p:spTree>
    <p:extLst>
      <p:ext uri="{BB962C8B-B14F-4D97-AF65-F5344CB8AC3E}">
        <p14:creationId xmlns:p14="http://schemas.microsoft.com/office/powerpoint/2010/main" val="1032190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https://aws.amazon.com/what-is/iaas/</a:t>
            </a:r>
          </a:p>
        </p:txBody>
      </p:sp>
      <p:sp>
        <p:nvSpPr>
          <p:cNvPr id="4" name="Slide Number Placeholder 3"/>
          <p:cNvSpPr>
            <a:spLocks noGrp="1"/>
          </p:cNvSpPr>
          <p:nvPr>
            <p:ph type="sldNum" sz="quarter" idx="5"/>
          </p:nvPr>
        </p:nvSpPr>
        <p:spPr/>
        <p:txBody>
          <a:bodyPr/>
          <a:lstStyle/>
          <a:p>
            <a:fld id="{4F18C0ED-8D7C-4DA4-B6F2-0AFEA9BD0501}" type="slidenum">
              <a:rPr lang="en-US" smtClean="0"/>
              <a:t>4</a:t>
            </a:fld>
            <a:endParaRPr lang="en-US"/>
          </a:p>
        </p:txBody>
      </p:sp>
    </p:spTree>
    <p:extLst>
      <p:ext uri="{BB962C8B-B14F-4D97-AF65-F5344CB8AC3E}">
        <p14:creationId xmlns:p14="http://schemas.microsoft.com/office/powerpoint/2010/main" val="3367306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https://azure.microsoft.com/en-us/resources/cloud-computing-dictionary/what-is-iaas/</a:t>
            </a:r>
          </a:p>
        </p:txBody>
      </p:sp>
      <p:sp>
        <p:nvSpPr>
          <p:cNvPr id="4" name="Slide Number Placeholder 3"/>
          <p:cNvSpPr>
            <a:spLocks noGrp="1"/>
          </p:cNvSpPr>
          <p:nvPr>
            <p:ph type="sldNum" sz="quarter" idx="5"/>
          </p:nvPr>
        </p:nvSpPr>
        <p:spPr/>
        <p:txBody>
          <a:bodyPr/>
          <a:lstStyle/>
          <a:p>
            <a:fld id="{4F18C0ED-8D7C-4DA4-B6F2-0AFEA9BD0501}" type="slidenum">
              <a:rPr lang="en-US" smtClean="0"/>
              <a:t>5</a:t>
            </a:fld>
            <a:endParaRPr lang="en-US"/>
          </a:p>
        </p:txBody>
      </p:sp>
    </p:spTree>
    <p:extLst>
      <p:ext uri="{BB962C8B-B14F-4D97-AF65-F5344CB8AC3E}">
        <p14:creationId xmlns:p14="http://schemas.microsoft.com/office/powerpoint/2010/main" val="3844406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https://cloud.google.com/learn/paas-vs-iaas-vs-saas?hl=en</a:t>
            </a:r>
          </a:p>
        </p:txBody>
      </p:sp>
      <p:sp>
        <p:nvSpPr>
          <p:cNvPr id="4" name="Slide Number Placeholder 3"/>
          <p:cNvSpPr>
            <a:spLocks noGrp="1"/>
          </p:cNvSpPr>
          <p:nvPr>
            <p:ph type="sldNum" sz="quarter" idx="5"/>
          </p:nvPr>
        </p:nvSpPr>
        <p:spPr/>
        <p:txBody>
          <a:bodyPr/>
          <a:lstStyle/>
          <a:p>
            <a:fld id="{4F18C0ED-8D7C-4DA4-B6F2-0AFEA9BD0501}" type="slidenum">
              <a:rPr lang="en-US" smtClean="0"/>
              <a:t>17</a:t>
            </a:fld>
            <a:endParaRPr lang="en-US"/>
          </a:p>
        </p:txBody>
      </p:sp>
    </p:spTree>
    <p:extLst>
      <p:ext uri="{BB962C8B-B14F-4D97-AF65-F5344CB8AC3E}">
        <p14:creationId xmlns:p14="http://schemas.microsoft.com/office/powerpoint/2010/main" val="4484130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066800"/>
            <a:ext cx="7772400" cy="1470025"/>
          </a:xfrm>
        </p:spPr>
        <p:txBody>
          <a:bodyPr/>
          <a:lstStyle/>
          <a:p>
            <a:r>
              <a:rPr lang="en-US" dirty="0"/>
              <a:t>Click to edit Master title style</a:t>
            </a:r>
          </a:p>
        </p:txBody>
      </p:sp>
      <p:sp>
        <p:nvSpPr>
          <p:cNvPr id="3" name="Subtitle 2"/>
          <p:cNvSpPr>
            <a:spLocks noGrp="1"/>
          </p:cNvSpPr>
          <p:nvPr>
            <p:ph type="subTitle" idx="1"/>
          </p:nvPr>
        </p:nvSpPr>
        <p:spPr>
          <a:xfrm>
            <a:off x="4191000" y="3429000"/>
            <a:ext cx="4267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7" name="Picture 2"/>
          <p:cNvPicPr/>
          <p:nvPr userDrawn="1"/>
        </p:nvPicPr>
        <p:blipFill>
          <a:blip r:embed="rId2"/>
          <a:stretch/>
        </p:blipFill>
        <p:spPr>
          <a:xfrm>
            <a:off x="5589720" y="216720"/>
            <a:ext cx="3263400" cy="647280"/>
          </a:xfrm>
          <a:prstGeom prst="rect">
            <a:avLst/>
          </a:prstGeom>
          <a:ln>
            <a:noFill/>
          </a:ln>
        </p:spPr>
      </p:pic>
      <p:pic>
        <p:nvPicPr>
          <p:cNvPr id="8" name="Picture 2"/>
          <p:cNvPicPr/>
          <p:nvPr userDrawn="1"/>
        </p:nvPicPr>
        <p:blipFill>
          <a:blip r:embed="rId3"/>
          <a:srcRect r="17786" b="11856"/>
          <a:stretch/>
        </p:blipFill>
        <p:spPr>
          <a:xfrm>
            <a:off x="43560" y="3251520"/>
            <a:ext cx="3847320" cy="3093120"/>
          </a:xfrm>
          <a:prstGeom prst="rect">
            <a:avLst/>
          </a:prstGeom>
          <a:ln>
            <a:noFill/>
          </a:ln>
        </p:spPr>
      </p:pic>
    </p:spTree>
    <p:extLst>
      <p:ext uri="{BB962C8B-B14F-4D97-AF65-F5344CB8AC3E}">
        <p14:creationId xmlns:p14="http://schemas.microsoft.com/office/powerpoint/2010/main" val="783226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A5523F-4C95-49F3-8F3F-2B05583CC12F}" type="slidenum">
              <a:rPr lang="en-US" smtClean="0"/>
              <a:t>‹N°›</a:t>
            </a:fld>
            <a:endParaRPr lang="en-US"/>
          </a:p>
        </p:txBody>
      </p:sp>
      <p:pic>
        <p:nvPicPr>
          <p:cNvPr id="7"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305138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A5523F-4C95-49F3-8F3F-2B05583CC12F}" type="slidenum">
              <a:rPr lang="en-US" smtClean="0"/>
              <a:t>‹N°›</a:t>
            </a:fld>
            <a:endParaRPr lang="en-US"/>
          </a:p>
        </p:txBody>
      </p:sp>
      <p:pic>
        <p:nvPicPr>
          <p:cNvPr id="7"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3879510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981200"/>
            <a:ext cx="4038600" cy="4144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A5523F-4C95-49F3-8F3F-2B05583CC12F}" type="slidenum">
              <a:rPr lang="en-US" smtClean="0"/>
              <a:t>‹N°›</a:t>
            </a:fld>
            <a:endParaRPr lang="en-US"/>
          </a:p>
        </p:txBody>
      </p:sp>
      <p:pic>
        <p:nvPicPr>
          <p:cNvPr id="8"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1342057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951038"/>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743199"/>
            <a:ext cx="4040188" cy="3382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951038"/>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743199"/>
            <a:ext cx="4041775" cy="3382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8A5523F-4C95-49F3-8F3F-2B05583CC12F}" type="slidenum">
              <a:rPr lang="en-US" smtClean="0"/>
              <a:t>‹N°›</a:t>
            </a:fld>
            <a:endParaRPr lang="en-US"/>
          </a:p>
        </p:txBody>
      </p:sp>
      <p:pic>
        <p:nvPicPr>
          <p:cNvPr id="10"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1425059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A5523F-4C95-49F3-8F3F-2B05583CC12F}" type="slidenum">
              <a:rPr lang="en-US" smtClean="0"/>
              <a:t>‹N°›</a:t>
            </a:fld>
            <a:endParaRPr lang="en-US"/>
          </a:p>
        </p:txBody>
      </p:sp>
      <p:pic>
        <p:nvPicPr>
          <p:cNvPr id="6"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2330669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8A5523F-4C95-49F3-8F3F-2B05583CC12F}" type="slidenum">
              <a:rPr lang="en-US" smtClean="0"/>
              <a:t>‹N°›</a:t>
            </a:fld>
            <a:endParaRPr lang="en-US"/>
          </a:p>
        </p:txBody>
      </p:sp>
      <p:pic>
        <p:nvPicPr>
          <p:cNvPr id="5"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2640390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371600"/>
            <a:ext cx="3008313" cy="91440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1371600"/>
            <a:ext cx="5111750" cy="4754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362200"/>
            <a:ext cx="3008313" cy="3763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A5523F-4C95-49F3-8F3F-2B05583CC12F}" type="slidenum">
              <a:rPr lang="en-US" smtClean="0"/>
              <a:t>‹N°›</a:t>
            </a:fld>
            <a:endParaRPr lang="en-US"/>
          </a:p>
        </p:txBody>
      </p:sp>
      <p:pic>
        <p:nvPicPr>
          <p:cNvPr id="9"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4089267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1371599"/>
            <a:ext cx="5486400" cy="33559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A5523F-4C95-49F3-8F3F-2B05583CC12F}" type="slidenum">
              <a:rPr lang="en-US" smtClean="0"/>
              <a:t>‹N°›</a:t>
            </a:fld>
            <a:endParaRPr lang="en-US"/>
          </a:p>
        </p:txBody>
      </p:sp>
      <p:pic>
        <p:nvPicPr>
          <p:cNvPr id="8"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1294668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A5523F-4C95-49F3-8F3F-2B05583CC12F}" type="slidenum">
              <a:rPr lang="en-US" smtClean="0"/>
              <a:t>‹N°›</a:t>
            </a:fld>
            <a:endParaRPr lang="en-US"/>
          </a:p>
        </p:txBody>
      </p:sp>
      <p:pic>
        <p:nvPicPr>
          <p:cNvPr id="7"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2894639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371600"/>
            <a:ext cx="2057400" cy="4754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371600"/>
            <a:ext cx="6019800" cy="475456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A5523F-4C95-49F3-8F3F-2B05583CC12F}" type="slidenum">
              <a:rPr lang="en-US" smtClean="0"/>
              <a:t>‹N°›</a:t>
            </a:fld>
            <a:endParaRPr lang="en-US"/>
          </a:p>
        </p:txBody>
      </p:sp>
      <p:pic>
        <p:nvPicPr>
          <p:cNvPr id="7" name="Picture 3"/>
          <p:cNvPicPr/>
          <p:nvPr userDrawn="1"/>
        </p:nvPicPr>
        <p:blipFill>
          <a:blip r:embed="rId2"/>
          <a:stretch/>
        </p:blipFill>
        <p:spPr>
          <a:xfrm>
            <a:off x="0" y="0"/>
            <a:ext cx="9142560" cy="1246320"/>
          </a:xfrm>
          <a:prstGeom prst="rect">
            <a:avLst/>
          </a:prstGeom>
          <a:ln>
            <a:noFill/>
          </a:ln>
        </p:spPr>
      </p:pic>
    </p:spTree>
    <p:extLst>
      <p:ext uri="{BB962C8B-B14F-4D97-AF65-F5344CB8AC3E}">
        <p14:creationId xmlns:p14="http://schemas.microsoft.com/office/powerpoint/2010/main" val="1862438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8" name="Picture 2"/>
          <p:cNvPicPr/>
          <p:nvPr userDrawn="1"/>
        </p:nvPicPr>
        <p:blipFill>
          <a:blip r:embed="rId2"/>
          <a:srcRect t="17910" b="13979"/>
          <a:stretch/>
        </p:blipFill>
        <p:spPr>
          <a:xfrm>
            <a:off x="-2520" y="0"/>
            <a:ext cx="9142560" cy="4669560"/>
          </a:xfrm>
          <a:prstGeom prst="rect">
            <a:avLst/>
          </a:prstGeom>
          <a:ln>
            <a:noFill/>
          </a:ln>
        </p:spPr>
      </p:pic>
      <p:pic>
        <p:nvPicPr>
          <p:cNvPr id="9" name="Picture 2"/>
          <p:cNvPicPr/>
          <p:nvPr userDrawn="1"/>
        </p:nvPicPr>
        <p:blipFill>
          <a:blip r:embed="rId3"/>
          <a:stretch/>
        </p:blipFill>
        <p:spPr>
          <a:xfrm>
            <a:off x="154440" y="142920"/>
            <a:ext cx="3037680" cy="602280"/>
          </a:xfrm>
          <a:prstGeom prst="rect">
            <a:avLst/>
          </a:prstGeom>
          <a:ln>
            <a:noFill/>
          </a:ln>
        </p:spPr>
      </p:pic>
      <p:sp>
        <p:nvSpPr>
          <p:cNvPr id="10" name="CustomShape 4"/>
          <p:cNvSpPr/>
          <p:nvPr userDrawn="1"/>
        </p:nvSpPr>
        <p:spPr>
          <a:xfrm>
            <a:off x="-360" y="4671000"/>
            <a:ext cx="9140400" cy="92160"/>
          </a:xfrm>
          <a:prstGeom prst="rect">
            <a:avLst/>
          </a:prstGeom>
          <a:solidFill>
            <a:srgbClr val="C00000"/>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 name="CustomShape 3"/>
          <p:cNvSpPr/>
          <p:nvPr userDrawn="1"/>
        </p:nvSpPr>
        <p:spPr>
          <a:xfrm>
            <a:off x="434520" y="4489200"/>
            <a:ext cx="8325000" cy="2117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5400" b="1" strike="noStrike" spc="-1" dirty="0">
                <a:solidFill>
                  <a:srgbClr val="C00000"/>
                </a:solidFill>
                <a:uFill>
                  <a:solidFill>
                    <a:srgbClr val="FFFFFF"/>
                  </a:solidFill>
                </a:uFill>
                <a:latin typeface="Brush Script Std"/>
                <a:ea typeface="ＭＳ Ｐゴシック"/>
              </a:rPr>
              <a:t>THANK YOU</a:t>
            </a:r>
            <a:endParaRPr lang="en-US" sz="18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799870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050" name="Picture 2" descr="C:\Users\Mystogan\Downloads\Compressed\2917_internet_ppt\template_main.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17785" b="11855"/>
          <a:stretch/>
        </p:blipFill>
        <p:spPr bwMode="auto">
          <a:xfrm>
            <a:off x="43394" y="3251531"/>
            <a:ext cx="3848669" cy="309467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p:cNvSpPr>
            <a:spLocks noGrp="1" noChangeArrowheads="1"/>
          </p:cNvSpPr>
          <p:nvPr>
            <p:ph type="ctrTitle"/>
          </p:nvPr>
        </p:nvSpPr>
        <p:spPr>
          <a:xfrm>
            <a:off x="1234684" y="1269242"/>
            <a:ext cx="7909316" cy="765053"/>
          </a:xfrm>
          <a:prstGeom prst="rect">
            <a:avLst/>
          </a:prstGeom>
        </p:spPr>
        <p:txBody>
          <a:bodyPr/>
          <a:lstStyle>
            <a:lvl1pPr algn="l">
              <a:lnSpc>
                <a:spcPct val="90000"/>
              </a:lnSpc>
              <a:defRPr sz="2800" b="1">
                <a:solidFill>
                  <a:schemeClr val="tx1"/>
                </a:solidFill>
                <a:latin typeface="+mn-lt"/>
              </a:defRPr>
            </a:lvl1pPr>
          </a:lstStyle>
          <a:p>
            <a:r>
              <a:rPr lang="en-US" dirty="0"/>
              <a:t>Click to edit Master title style</a:t>
            </a:r>
          </a:p>
        </p:txBody>
      </p:sp>
      <p:sp>
        <p:nvSpPr>
          <p:cNvPr id="10" name="Rectangle 3"/>
          <p:cNvSpPr>
            <a:spLocks noGrp="1" noChangeArrowheads="1"/>
          </p:cNvSpPr>
          <p:nvPr>
            <p:ph type="subTitle" idx="1"/>
          </p:nvPr>
        </p:nvSpPr>
        <p:spPr>
          <a:xfrm>
            <a:off x="1234684" y="2227425"/>
            <a:ext cx="7909316" cy="429768"/>
          </a:xfrm>
          <a:prstGeom prst="rect">
            <a:avLst/>
          </a:prstGeom>
        </p:spPr>
        <p:txBody>
          <a:bodyPr/>
          <a:lstStyle>
            <a:lvl1pPr marL="0" indent="0">
              <a:lnSpc>
                <a:spcPct val="90000"/>
              </a:lnSpc>
              <a:buFont typeface="Wingdings" pitchFamily="28" charset="2"/>
              <a:buNone/>
              <a:defRPr sz="2000" b="0" baseline="0">
                <a:solidFill>
                  <a:schemeClr val="tx1"/>
                </a:solidFill>
                <a:latin typeface="Verdana"/>
                <a:cs typeface="Verdana"/>
              </a:defRPr>
            </a:lvl1pPr>
          </a:lstStyle>
          <a:p>
            <a:r>
              <a:rPr lang="en-US" dirty="0"/>
              <a:t>Click to edit Master subtitle style</a:t>
            </a:r>
          </a:p>
        </p:txBody>
      </p:sp>
      <p:sp>
        <p:nvSpPr>
          <p:cNvPr id="7" name="Text Placeholder 15"/>
          <p:cNvSpPr>
            <a:spLocks noGrp="1"/>
          </p:cNvSpPr>
          <p:nvPr>
            <p:ph type="body" sz="quarter" idx="13"/>
          </p:nvPr>
        </p:nvSpPr>
        <p:spPr>
          <a:xfrm>
            <a:off x="1234684" y="2875084"/>
            <a:ext cx="7918022" cy="378005"/>
          </a:xfrm>
          <a:prstGeom prst="rect">
            <a:avLst/>
          </a:prstGeom>
        </p:spPr>
        <p:txBody>
          <a:bodyPr/>
          <a:lstStyle>
            <a:lvl1pPr marL="0" indent="0">
              <a:buFontTx/>
              <a:buNone/>
              <a:defRPr sz="1600">
                <a:solidFill>
                  <a:schemeClr val="tx1"/>
                </a:solidFill>
                <a:latin typeface="Verdana"/>
              </a:defRPr>
            </a:lvl1pPr>
          </a:lstStyle>
          <a:p>
            <a:pPr lvl="0"/>
            <a:r>
              <a:rPr lang="en-US" dirty="0"/>
              <a:t>Click to edit Master text styles</a:t>
            </a:r>
          </a:p>
        </p:txBody>
      </p:sp>
      <p:sp>
        <p:nvSpPr>
          <p:cNvPr id="11" name="Date Placeholder 1"/>
          <p:cNvSpPr>
            <a:spLocks noGrp="1"/>
          </p:cNvSpPr>
          <p:nvPr>
            <p:ph type="dt" sz="half" idx="14"/>
          </p:nvPr>
        </p:nvSpPr>
        <p:spPr/>
        <p:txBody>
          <a:bodyPr/>
          <a:lstStyle>
            <a:lvl1pPr>
              <a:defRPr>
                <a:solidFill>
                  <a:schemeClr val="tx1"/>
                </a:solidFill>
              </a:defRPr>
            </a:lvl1pPr>
          </a:lstStyle>
          <a:p>
            <a:pPr>
              <a:defRPr/>
            </a:pPr>
            <a:endParaRPr lang="en-US" dirty="0"/>
          </a:p>
        </p:txBody>
      </p:sp>
      <p:sp>
        <p:nvSpPr>
          <p:cNvPr id="12" name="Slide Number Placeholder 2"/>
          <p:cNvSpPr>
            <a:spLocks noGrp="1"/>
          </p:cNvSpPr>
          <p:nvPr>
            <p:ph type="sldNum" sz="quarter" idx="15"/>
          </p:nvPr>
        </p:nvSpPr>
        <p:spPr/>
        <p:txBody>
          <a:bodyPr/>
          <a:lstStyle>
            <a:lvl1pPr>
              <a:defRPr>
                <a:solidFill>
                  <a:schemeClr val="tx1"/>
                </a:solidFill>
              </a:defRPr>
            </a:lvl1pPr>
          </a:lstStyle>
          <a:p>
            <a:pPr>
              <a:defRPr/>
            </a:pPr>
            <a:fld id="{FA0FCE97-1E5D-3942-9893-29D29393C492}" type="slidenum">
              <a:rPr lang="en-US" smtClean="0"/>
              <a:pPr>
                <a:defRPr/>
              </a:pPr>
              <a:t>‹N°›</a:t>
            </a:fld>
            <a:endParaRPr lang="en-US" dirty="0"/>
          </a:p>
        </p:txBody>
      </p:sp>
      <p:sp>
        <p:nvSpPr>
          <p:cNvPr id="2" name="Rectangle 1"/>
          <p:cNvSpPr/>
          <p:nvPr userDrawn="1"/>
        </p:nvSpPr>
        <p:spPr>
          <a:xfrm>
            <a:off x="0" y="0"/>
            <a:ext cx="9144000" cy="1269242"/>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pic>
        <p:nvPicPr>
          <p:cNvPr id="1026" name="Picture 2" descr="C:\Users\Mystogan\Pictures\Untitled-1.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589705" y="216578"/>
            <a:ext cx="3264827" cy="648609"/>
          </a:xfrm>
          <a:prstGeom prst="rect">
            <a:avLst/>
          </a:prstGeom>
          <a:noFill/>
          <a:extLst>
            <a:ext uri="{909E8E84-426E-40DD-AFC4-6F175D3DCCD1}">
              <a14:hiddenFill xmlns:a14="http://schemas.microsoft.com/office/drawing/2010/main">
                <a:solidFill>
                  <a:srgbClr val="FFFFFF"/>
                </a:solidFill>
              </a14:hiddenFill>
            </a:ext>
          </a:extLst>
        </p:spPr>
      </p:pic>
      <p:sp>
        <p:nvSpPr>
          <p:cNvPr id="14" name="Footer Placeholder 4"/>
          <p:cNvSpPr>
            <a:spLocks noGrp="1"/>
          </p:cNvSpPr>
          <p:nvPr>
            <p:ph type="ftr" sz="quarter" idx="11"/>
          </p:nvPr>
        </p:nvSpPr>
        <p:spPr>
          <a:xfrm>
            <a:off x="5791200" y="6356350"/>
            <a:ext cx="2895600" cy="365125"/>
          </a:xfrm>
        </p:spPr>
        <p:txBody>
          <a:bodyPr/>
          <a:lstStyle/>
          <a:p>
            <a:endParaRPr lang="en-US" dirty="0"/>
          </a:p>
        </p:txBody>
      </p:sp>
    </p:spTree>
    <p:extLst>
      <p:ext uri="{BB962C8B-B14F-4D97-AF65-F5344CB8AC3E}">
        <p14:creationId xmlns:p14="http://schemas.microsoft.com/office/powerpoint/2010/main" val="4033131675"/>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p:cNvPicPr/>
          <p:nvPr userDrawn="1"/>
        </p:nvPicPr>
        <p:blipFill>
          <a:blip r:embed="rId15"/>
          <a:stretch/>
        </p:blipFill>
        <p:spPr>
          <a:xfrm>
            <a:off x="0" y="6248520"/>
            <a:ext cx="9142560" cy="608040"/>
          </a:xfrm>
          <a:prstGeom prst="rect">
            <a:avLst/>
          </a:prstGeom>
          <a:ln>
            <a:noFill/>
          </a:ln>
        </p:spPr>
      </p:pic>
      <p:sp>
        <p:nvSpPr>
          <p:cNvPr id="2" name="Title Placeholder 1"/>
          <p:cNvSpPr>
            <a:spLocks noGrp="1"/>
          </p:cNvSpPr>
          <p:nvPr>
            <p:ph type="title"/>
          </p:nvPr>
        </p:nvSpPr>
        <p:spPr>
          <a:xfrm>
            <a:off x="457200" y="1295400"/>
            <a:ext cx="8229600" cy="5794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81200"/>
            <a:ext cx="8229600" cy="4144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14400" y="6356350"/>
            <a:ext cx="2133600" cy="365125"/>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5" name="Footer Placeholder 4"/>
          <p:cNvSpPr>
            <a:spLocks noGrp="1"/>
          </p:cNvSpPr>
          <p:nvPr>
            <p:ph type="ftr" sz="quarter" idx="3"/>
          </p:nvPr>
        </p:nvSpPr>
        <p:spPr>
          <a:xfrm>
            <a:off x="5791200" y="6356350"/>
            <a:ext cx="2895600"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457200" y="6356350"/>
            <a:ext cx="381000" cy="365125"/>
          </a:xfrm>
          <a:prstGeom prst="rect">
            <a:avLst/>
          </a:prstGeom>
        </p:spPr>
        <p:txBody>
          <a:bodyPr vert="horz" lIns="91440" tIns="45720" rIns="91440" bIns="45720" rtlCol="0" anchor="ctr"/>
          <a:lstStyle>
            <a:lvl1pPr algn="r">
              <a:defRPr sz="1200">
                <a:solidFill>
                  <a:schemeClr val="tx1"/>
                </a:solidFill>
              </a:defRPr>
            </a:lvl1pPr>
          </a:lstStyle>
          <a:p>
            <a:fld id="{68A5523F-4C95-49F3-8F3F-2B05583CC12F}" type="slidenum">
              <a:rPr lang="en-US" smtClean="0"/>
              <a:pPr/>
              <a:t>‹N°›</a:t>
            </a:fld>
            <a:endParaRPr lang="en-US" dirty="0"/>
          </a:p>
        </p:txBody>
      </p:sp>
    </p:spTree>
    <p:extLst>
      <p:ext uri="{BB962C8B-B14F-4D97-AF65-F5344CB8AC3E}">
        <p14:creationId xmlns:p14="http://schemas.microsoft.com/office/powerpoint/2010/main" val="3496024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p:txBody>
          <a:bodyPr>
            <a:normAutofit/>
          </a:bodyPr>
          <a:lstStyle/>
          <a:p>
            <a:r>
              <a:rPr lang="en-US" dirty="0">
                <a:latin typeface="Times New Roman" pitchFamily="18" charset="0"/>
                <a:cs typeface="Times New Roman" pitchFamily="18" charset="0"/>
              </a:rPr>
              <a:t>IaaS</a:t>
            </a:r>
          </a:p>
        </p:txBody>
      </p:sp>
      <p:sp>
        <p:nvSpPr>
          <p:cNvPr id="4" name="Subtitle 3"/>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7618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9987C-C677-0FEB-6C8D-F00788275608}"/>
              </a:ext>
            </a:extLst>
          </p:cNvPr>
          <p:cNvSpPr>
            <a:spLocks noGrp="1"/>
          </p:cNvSpPr>
          <p:nvPr>
            <p:ph type="title"/>
          </p:nvPr>
        </p:nvSpPr>
        <p:spPr/>
        <p:txBody>
          <a:bodyPr>
            <a:normAutofit fontScale="90000"/>
          </a:bodyPr>
          <a:lstStyle/>
          <a:p>
            <a:r>
              <a:rPr lang="en-US" dirty="0"/>
              <a:t>Definition (NIST)</a:t>
            </a:r>
          </a:p>
        </p:txBody>
      </p:sp>
      <p:sp>
        <p:nvSpPr>
          <p:cNvPr id="3" name="Content Placeholder 2">
            <a:extLst>
              <a:ext uri="{FF2B5EF4-FFF2-40B4-BE49-F238E27FC236}">
                <a16:creationId xmlns:a16="http://schemas.microsoft.com/office/drawing/2014/main" id="{93D19D89-15C3-9591-D4D4-7C62FD99F854}"/>
              </a:ext>
            </a:extLst>
          </p:cNvPr>
          <p:cNvSpPr>
            <a:spLocks noGrp="1"/>
          </p:cNvSpPr>
          <p:nvPr>
            <p:ph idx="1"/>
          </p:nvPr>
        </p:nvSpPr>
        <p:spPr/>
        <p:txBody>
          <a:bodyPr>
            <a:normAutofit fontScale="92500" lnSpcReduction="20000"/>
          </a:bodyPr>
          <a:lstStyle/>
          <a:p>
            <a:pPr algn="just"/>
            <a:r>
              <a:rPr lang="en-US" dirty="0"/>
              <a:t>“The capability provided to the consumer is provision processing, storage, networks, as well as other fundamental computing resources where the consumer is able to deploy &amp; run arbitrary software, which can include operating systems and applications. The consumer does not manage or control the underlying cloud infrastructure but has control over operating systems, storage, &amp; deployed applications; and possibly limited control of select networking components (e.g., host firewalls).”</a:t>
            </a:r>
          </a:p>
        </p:txBody>
      </p:sp>
    </p:spTree>
    <p:extLst>
      <p:ext uri="{BB962C8B-B14F-4D97-AF65-F5344CB8AC3E}">
        <p14:creationId xmlns:p14="http://schemas.microsoft.com/office/powerpoint/2010/main" val="224621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737B4-1396-420C-E522-AB24FDD60F82}"/>
              </a:ext>
            </a:extLst>
          </p:cNvPr>
          <p:cNvSpPr>
            <a:spLocks noGrp="1"/>
          </p:cNvSpPr>
          <p:nvPr>
            <p:ph type="title"/>
          </p:nvPr>
        </p:nvSpPr>
        <p:spPr/>
        <p:txBody>
          <a:bodyPr>
            <a:normAutofit fontScale="90000"/>
          </a:bodyPr>
          <a:lstStyle/>
          <a:p>
            <a:r>
              <a:rPr lang="en-US" dirty="0"/>
              <a:t>Definition (google cloud)</a:t>
            </a:r>
          </a:p>
        </p:txBody>
      </p:sp>
      <p:sp>
        <p:nvSpPr>
          <p:cNvPr id="3" name="Content Placeholder 2">
            <a:extLst>
              <a:ext uri="{FF2B5EF4-FFF2-40B4-BE49-F238E27FC236}">
                <a16:creationId xmlns:a16="http://schemas.microsoft.com/office/drawing/2014/main" id="{28AB3E75-43C4-D857-161C-CFEEB614F247}"/>
              </a:ext>
            </a:extLst>
          </p:cNvPr>
          <p:cNvSpPr>
            <a:spLocks noGrp="1"/>
          </p:cNvSpPr>
          <p:nvPr>
            <p:ph idx="1"/>
          </p:nvPr>
        </p:nvSpPr>
        <p:spPr/>
        <p:txBody>
          <a:bodyPr/>
          <a:lstStyle/>
          <a:p>
            <a:r>
              <a:rPr lang="en-US" dirty="0"/>
              <a:t>Infrastructure as a service (IaaS) is the on-demand availability of highly scalable computing resources as services over the internet. It eliminates the need for enterprises to procure, configure, or manage infrastructure themselves, and they only pay for what they use.</a:t>
            </a:r>
          </a:p>
        </p:txBody>
      </p:sp>
    </p:spTree>
    <p:extLst>
      <p:ext uri="{BB962C8B-B14F-4D97-AF65-F5344CB8AC3E}">
        <p14:creationId xmlns:p14="http://schemas.microsoft.com/office/powerpoint/2010/main" val="992020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B2DD-A843-4914-BB03-1A584F04DB81}"/>
              </a:ext>
            </a:extLst>
          </p:cNvPr>
          <p:cNvSpPr>
            <a:spLocks noGrp="1"/>
          </p:cNvSpPr>
          <p:nvPr>
            <p:ph type="title"/>
          </p:nvPr>
        </p:nvSpPr>
        <p:spPr/>
        <p:txBody>
          <a:bodyPr>
            <a:normAutofit fontScale="90000"/>
          </a:bodyPr>
          <a:lstStyle/>
          <a:p>
            <a:r>
              <a:rPr lang="en-US" dirty="0"/>
              <a:t>Definition (AWS)</a:t>
            </a:r>
          </a:p>
        </p:txBody>
      </p:sp>
      <p:sp>
        <p:nvSpPr>
          <p:cNvPr id="3" name="Content Placeholder 2">
            <a:extLst>
              <a:ext uri="{FF2B5EF4-FFF2-40B4-BE49-F238E27FC236}">
                <a16:creationId xmlns:a16="http://schemas.microsoft.com/office/drawing/2014/main" id="{FE8CCB71-80C3-A90A-7F01-1DDB873C6C81}"/>
              </a:ext>
            </a:extLst>
          </p:cNvPr>
          <p:cNvSpPr>
            <a:spLocks noGrp="1"/>
          </p:cNvSpPr>
          <p:nvPr>
            <p:ph idx="1"/>
          </p:nvPr>
        </p:nvSpPr>
        <p:spPr/>
        <p:txBody>
          <a:bodyPr/>
          <a:lstStyle/>
          <a:p>
            <a:r>
              <a:rPr lang="en-US" dirty="0"/>
              <a:t>Infrastructure as a Service (IaaS) is a business model that delivers IT infrastructure like compute, storage, and network resources on a pay-as-you-go basis over the internet.</a:t>
            </a:r>
          </a:p>
        </p:txBody>
      </p:sp>
    </p:spTree>
    <p:extLst>
      <p:ext uri="{BB962C8B-B14F-4D97-AF65-F5344CB8AC3E}">
        <p14:creationId xmlns:p14="http://schemas.microsoft.com/office/powerpoint/2010/main" val="396561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2A46D-33EA-875C-49C7-714B4FCDED86}"/>
              </a:ext>
            </a:extLst>
          </p:cNvPr>
          <p:cNvSpPr>
            <a:spLocks noGrp="1"/>
          </p:cNvSpPr>
          <p:nvPr>
            <p:ph type="title"/>
          </p:nvPr>
        </p:nvSpPr>
        <p:spPr/>
        <p:txBody>
          <a:bodyPr>
            <a:normAutofit fontScale="90000"/>
          </a:bodyPr>
          <a:lstStyle/>
          <a:p>
            <a:r>
              <a:rPr lang="en-US" dirty="0"/>
              <a:t>Definition (Azure)</a:t>
            </a:r>
          </a:p>
        </p:txBody>
      </p:sp>
      <p:sp>
        <p:nvSpPr>
          <p:cNvPr id="3" name="Content Placeholder 2">
            <a:extLst>
              <a:ext uri="{FF2B5EF4-FFF2-40B4-BE49-F238E27FC236}">
                <a16:creationId xmlns:a16="http://schemas.microsoft.com/office/drawing/2014/main" id="{D48F0877-7B63-DA90-BC72-BCD914B6E9C0}"/>
              </a:ext>
            </a:extLst>
          </p:cNvPr>
          <p:cNvSpPr>
            <a:spLocks noGrp="1"/>
          </p:cNvSpPr>
          <p:nvPr>
            <p:ph idx="1"/>
          </p:nvPr>
        </p:nvSpPr>
        <p:spPr/>
        <p:txBody>
          <a:bodyPr/>
          <a:lstStyle/>
          <a:p>
            <a:r>
              <a:rPr lang="en-US" dirty="0"/>
              <a:t>Infrastructure as a service (IaaS) is a type of cloud computing service that offers essential compute, storage, and networking resources on demand, on a pay-as-you-go basis.</a:t>
            </a:r>
          </a:p>
        </p:txBody>
      </p:sp>
    </p:spTree>
    <p:extLst>
      <p:ext uri="{BB962C8B-B14F-4D97-AF65-F5344CB8AC3E}">
        <p14:creationId xmlns:p14="http://schemas.microsoft.com/office/powerpoint/2010/main" val="1433391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CAC18-D172-DF60-ACEB-FCFFAF2E6640}"/>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D671E5C5-63C7-D549-2A10-B4B39C9F9BF8}"/>
              </a:ext>
            </a:extLst>
          </p:cNvPr>
          <p:cNvSpPr>
            <a:spLocks noGrp="1"/>
          </p:cNvSpPr>
          <p:nvPr>
            <p:ph idx="1"/>
          </p:nvPr>
        </p:nvSpPr>
        <p:spPr/>
        <p:txBody>
          <a:bodyPr/>
          <a:lstStyle/>
          <a:p>
            <a:r>
              <a:rPr lang="en-US" dirty="0"/>
              <a:t>IaaS delivers a cloud computing infrastructure – servers, storage, network services and virtual machines – as services. </a:t>
            </a:r>
          </a:p>
          <a:p>
            <a:r>
              <a:rPr lang="en-US" dirty="0"/>
              <a:t>Rather than purchasing these infrastructure components, clients instead purchase access to these components as services</a:t>
            </a:r>
          </a:p>
        </p:txBody>
      </p:sp>
    </p:spTree>
    <p:extLst>
      <p:ext uri="{BB962C8B-B14F-4D97-AF65-F5344CB8AC3E}">
        <p14:creationId xmlns:p14="http://schemas.microsoft.com/office/powerpoint/2010/main" val="3401287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C6E0B-8EEC-B2E7-713F-B654FA69750E}"/>
              </a:ext>
            </a:extLst>
          </p:cNvPr>
          <p:cNvSpPr>
            <a:spLocks noGrp="1"/>
          </p:cNvSpPr>
          <p:nvPr>
            <p:ph type="title"/>
          </p:nvPr>
        </p:nvSpPr>
        <p:spPr/>
        <p:txBody>
          <a:bodyPr>
            <a:noAutofit/>
          </a:bodyPr>
          <a:lstStyle/>
          <a:p>
            <a:r>
              <a:rPr lang="en-US" sz="3200" b="1" dirty="0"/>
              <a:t>Types of IaaS resources</a:t>
            </a:r>
            <a:endParaRPr lang="en-US" sz="3200" dirty="0"/>
          </a:p>
        </p:txBody>
      </p:sp>
      <p:sp>
        <p:nvSpPr>
          <p:cNvPr id="3" name="Content Placeholder 2">
            <a:extLst>
              <a:ext uri="{FF2B5EF4-FFF2-40B4-BE49-F238E27FC236}">
                <a16:creationId xmlns:a16="http://schemas.microsoft.com/office/drawing/2014/main" id="{2A31CC7F-0130-9A1C-E9EA-97762E8BF6FF}"/>
              </a:ext>
            </a:extLst>
          </p:cNvPr>
          <p:cNvSpPr>
            <a:spLocks noGrp="1"/>
          </p:cNvSpPr>
          <p:nvPr>
            <p:ph idx="1"/>
          </p:nvPr>
        </p:nvSpPr>
        <p:spPr/>
        <p:txBody>
          <a:bodyPr>
            <a:normAutofit fontScale="77500" lnSpcReduction="20000"/>
          </a:bodyPr>
          <a:lstStyle/>
          <a:p>
            <a:r>
              <a:rPr lang="en-US" dirty="0"/>
              <a:t>Compute</a:t>
            </a:r>
          </a:p>
          <a:p>
            <a:pPr lvl="1"/>
            <a:r>
              <a:rPr lang="en-US" dirty="0"/>
              <a:t>CPU</a:t>
            </a:r>
          </a:p>
          <a:p>
            <a:pPr lvl="1"/>
            <a:r>
              <a:rPr lang="en-US" dirty="0"/>
              <a:t>GPU</a:t>
            </a:r>
          </a:p>
          <a:p>
            <a:pPr lvl="1"/>
            <a:r>
              <a:rPr lang="en-US" dirty="0"/>
              <a:t>RAM</a:t>
            </a:r>
          </a:p>
          <a:p>
            <a:r>
              <a:rPr lang="en-US" dirty="0"/>
              <a:t>Storage</a:t>
            </a:r>
          </a:p>
          <a:p>
            <a:pPr lvl="1"/>
            <a:r>
              <a:rPr lang="en-US" dirty="0"/>
              <a:t>Block storage (SSD/HDD)</a:t>
            </a:r>
          </a:p>
          <a:p>
            <a:pPr lvl="1"/>
            <a:r>
              <a:rPr lang="en-US" dirty="0"/>
              <a:t>File storage (NAS)</a:t>
            </a:r>
          </a:p>
          <a:p>
            <a:pPr lvl="1"/>
            <a:r>
              <a:rPr lang="en-US" dirty="0"/>
              <a:t>Object storage</a:t>
            </a:r>
          </a:p>
          <a:p>
            <a:r>
              <a:rPr lang="en-US" dirty="0"/>
              <a:t>Network</a:t>
            </a:r>
          </a:p>
          <a:p>
            <a:pPr lvl="1"/>
            <a:r>
              <a:rPr lang="en-US" dirty="0"/>
              <a:t>Routing/switching</a:t>
            </a:r>
          </a:p>
          <a:p>
            <a:pPr lvl="1"/>
            <a:r>
              <a:rPr lang="en-US" dirty="0"/>
              <a:t>Load balancer</a:t>
            </a:r>
          </a:p>
        </p:txBody>
      </p:sp>
    </p:spTree>
    <p:extLst>
      <p:ext uri="{BB962C8B-B14F-4D97-AF65-F5344CB8AC3E}">
        <p14:creationId xmlns:p14="http://schemas.microsoft.com/office/powerpoint/2010/main" val="2522179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17AF8-C690-83C5-0B60-6798C2440E18}"/>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27817E30-6C92-C71D-82EE-9BB803F222F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55DFD65-DB62-BFD1-FD98-1B64B17E5841}"/>
              </a:ext>
            </a:extLst>
          </p:cNvPr>
          <p:cNvPicPr>
            <a:picLocks noChangeAspect="1"/>
          </p:cNvPicPr>
          <p:nvPr/>
        </p:nvPicPr>
        <p:blipFill>
          <a:blip r:embed="rId2"/>
          <a:stretch>
            <a:fillRect/>
          </a:stretch>
        </p:blipFill>
        <p:spPr>
          <a:xfrm>
            <a:off x="0" y="1923688"/>
            <a:ext cx="9144000" cy="3010624"/>
          </a:xfrm>
          <a:prstGeom prst="rect">
            <a:avLst/>
          </a:prstGeom>
        </p:spPr>
      </p:pic>
    </p:spTree>
    <p:extLst>
      <p:ext uri="{BB962C8B-B14F-4D97-AF65-F5344CB8AC3E}">
        <p14:creationId xmlns:p14="http://schemas.microsoft.com/office/powerpoint/2010/main" val="3503860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E606C-E2A5-D398-E14F-3C511625093B}"/>
              </a:ext>
            </a:extLst>
          </p:cNvPr>
          <p:cNvSpPr>
            <a:spLocks noGrp="1"/>
          </p:cNvSpPr>
          <p:nvPr>
            <p:ph type="title"/>
          </p:nvPr>
        </p:nvSpPr>
        <p:spPr/>
        <p:txBody>
          <a:bodyPr>
            <a:normAutofit fontScale="90000"/>
          </a:bodyPr>
          <a:lstStyle/>
          <a:p>
            <a:endParaRPr lang="en-US"/>
          </a:p>
        </p:txBody>
      </p:sp>
      <p:pic>
        <p:nvPicPr>
          <p:cNvPr id="5" name="Content Placeholder 4">
            <a:extLst>
              <a:ext uri="{FF2B5EF4-FFF2-40B4-BE49-F238E27FC236}">
                <a16:creationId xmlns:a16="http://schemas.microsoft.com/office/drawing/2014/main" id="{12F6E301-6AE6-4666-15BD-BABB7AEFAF4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87588" y="1981200"/>
            <a:ext cx="7368823" cy="4144963"/>
          </a:xfrm>
        </p:spPr>
      </p:pic>
    </p:spTree>
    <p:extLst>
      <p:ext uri="{BB962C8B-B14F-4D97-AF65-F5344CB8AC3E}">
        <p14:creationId xmlns:p14="http://schemas.microsoft.com/office/powerpoint/2010/main" val="2733869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74C5-B834-38F0-FC2B-1C07066C71A4}"/>
              </a:ext>
            </a:extLst>
          </p:cNvPr>
          <p:cNvSpPr>
            <a:spLocks noGrp="1"/>
          </p:cNvSpPr>
          <p:nvPr>
            <p:ph type="title"/>
          </p:nvPr>
        </p:nvSpPr>
        <p:spPr/>
        <p:txBody>
          <a:bodyPr>
            <a:normAutofit fontScale="90000"/>
          </a:bodyPr>
          <a:lstStyle/>
          <a:p>
            <a:r>
              <a:rPr lang="en-US" dirty="0"/>
              <a:t>IaaS Component Stack</a:t>
            </a:r>
          </a:p>
        </p:txBody>
      </p:sp>
      <p:sp>
        <p:nvSpPr>
          <p:cNvPr id="3" name="Content Placeholder 2">
            <a:extLst>
              <a:ext uri="{FF2B5EF4-FFF2-40B4-BE49-F238E27FC236}">
                <a16:creationId xmlns:a16="http://schemas.microsoft.com/office/drawing/2014/main" id="{21186FF4-CBA2-F878-4EDF-F523E68E2EC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F05418D-EF17-E9A1-DFEE-25E286669F4C}"/>
              </a:ext>
            </a:extLst>
          </p:cNvPr>
          <p:cNvPicPr>
            <a:picLocks noChangeAspect="1"/>
          </p:cNvPicPr>
          <p:nvPr/>
        </p:nvPicPr>
        <p:blipFill>
          <a:blip r:embed="rId2"/>
          <a:stretch>
            <a:fillRect/>
          </a:stretch>
        </p:blipFill>
        <p:spPr>
          <a:xfrm>
            <a:off x="914400" y="1976120"/>
            <a:ext cx="6074374" cy="4144963"/>
          </a:xfrm>
          <a:prstGeom prst="rect">
            <a:avLst/>
          </a:prstGeom>
        </p:spPr>
      </p:pic>
    </p:spTree>
    <p:extLst>
      <p:ext uri="{BB962C8B-B14F-4D97-AF65-F5344CB8AC3E}">
        <p14:creationId xmlns:p14="http://schemas.microsoft.com/office/powerpoint/2010/main" val="380995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7B30A-714F-DE3E-D65E-E3AA0C022583}"/>
              </a:ext>
            </a:extLst>
          </p:cNvPr>
          <p:cNvSpPr>
            <a:spLocks noGrp="1"/>
          </p:cNvSpPr>
          <p:nvPr>
            <p:ph type="title"/>
          </p:nvPr>
        </p:nvSpPr>
        <p:spPr/>
        <p:txBody>
          <a:bodyPr>
            <a:normAutofit fontScale="90000"/>
          </a:bodyPr>
          <a:lstStyle/>
          <a:p>
            <a:endParaRPr lang="en-US"/>
          </a:p>
        </p:txBody>
      </p:sp>
      <p:pic>
        <p:nvPicPr>
          <p:cNvPr id="5" name="Content Placeholder 4">
            <a:extLst>
              <a:ext uri="{FF2B5EF4-FFF2-40B4-BE49-F238E27FC236}">
                <a16:creationId xmlns:a16="http://schemas.microsoft.com/office/drawing/2014/main" id="{E8381995-D802-9EE4-2F93-1F921AD4A9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1295400"/>
            <a:ext cx="8382000" cy="4727564"/>
          </a:xfrm>
        </p:spPr>
      </p:pic>
    </p:spTree>
    <p:extLst>
      <p:ext uri="{BB962C8B-B14F-4D97-AF65-F5344CB8AC3E}">
        <p14:creationId xmlns:p14="http://schemas.microsoft.com/office/powerpoint/2010/main" val="808092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BF74-2405-81FC-26C2-04A653E25640}"/>
              </a:ext>
            </a:extLst>
          </p:cNvPr>
          <p:cNvSpPr>
            <a:spLocks noGrp="1"/>
          </p:cNvSpPr>
          <p:nvPr>
            <p:ph type="title"/>
          </p:nvPr>
        </p:nvSpPr>
        <p:spPr/>
        <p:txBody>
          <a:bodyPr>
            <a:normAutofit fontScale="90000"/>
          </a:bodyPr>
          <a:lstStyle/>
          <a:p>
            <a:r>
              <a:rPr lang="en-US" dirty="0"/>
              <a:t>Examples Public IaaS</a:t>
            </a:r>
          </a:p>
        </p:txBody>
      </p:sp>
      <p:sp>
        <p:nvSpPr>
          <p:cNvPr id="3" name="Content Placeholder 2">
            <a:extLst>
              <a:ext uri="{FF2B5EF4-FFF2-40B4-BE49-F238E27FC236}">
                <a16:creationId xmlns:a16="http://schemas.microsoft.com/office/drawing/2014/main" id="{DE4F2531-C326-695B-EEE4-5B688437FC5D}"/>
              </a:ext>
            </a:extLst>
          </p:cNvPr>
          <p:cNvSpPr>
            <a:spLocks noGrp="1"/>
          </p:cNvSpPr>
          <p:nvPr>
            <p:ph idx="1"/>
          </p:nvPr>
        </p:nvSpPr>
        <p:spPr/>
        <p:txBody>
          <a:bodyPr/>
          <a:lstStyle/>
          <a:p>
            <a:r>
              <a:rPr lang="en-US" dirty="0"/>
              <a:t>AWS: Amazon Elastic Compute Cloud (EC2), Amazon S3 </a:t>
            </a:r>
          </a:p>
          <a:p>
            <a:r>
              <a:rPr lang="en-US" dirty="0"/>
              <a:t>Microsoft Azure</a:t>
            </a:r>
          </a:p>
          <a:p>
            <a:r>
              <a:rPr lang="en-US" dirty="0"/>
              <a:t>Google Cloud: Google Compute Engine, Cloud Storage</a:t>
            </a:r>
          </a:p>
        </p:txBody>
      </p:sp>
    </p:spTree>
    <p:extLst>
      <p:ext uri="{BB962C8B-B14F-4D97-AF65-F5344CB8AC3E}">
        <p14:creationId xmlns:p14="http://schemas.microsoft.com/office/powerpoint/2010/main" val="3440698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4EA0-196A-865A-EBA4-428557DA3177}"/>
              </a:ext>
            </a:extLst>
          </p:cNvPr>
          <p:cNvSpPr>
            <a:spLocks noGrp="1"/>
          </p:cNvSpPr>
          <p:nvPr>
            <p:ph type="title"/>
          </p:nvPr>
        </p:nvSpPr>
        <p:spPr/>
        <p:txBody>
          <a:bodyPr>
            <a:normAutofit fontScale="90000"/>
          </a:bodyPr>
          <a:lstStyle/>
          <a:p>
            <a:r>
              <a:rPr lang="en-US" dirty="0"/>
              <a:t>Example Private IaaS</a:t>
            </a:r>
          </a:p>
        </p:txBody>
      </p:sp>
      <p:sp>
        <p:nvSpPr>
          <p:cNvPr id="3" name="Content Placeholder 2">
            <a:extLst>
              <a:ext uri="{FF2B5EF4-FFF2-40B4-BE49-F238E27FC236}">
                <a16:creationId xmlns:a16="http://schemas.microsoft.com/office/drawing/2014/main" id="{244A5D3D-D1D5-B26E-01A1-2F344E51DDBA}"/>
              </a:ext>
            </a:extLst>
          </p:cNvPr>
          <p:cNvSpPr>
            <a:spLocks noGrp="1"/>
          </p:cNvSpPr>
          <p:nvPr>
            <p:ph idx="1"/>
          </p:nvPr>
        </p:nvSpPr>
        <p:spPr/>
        <p:txBody>
          <a:bodyPr/>
          <a:lstStyle/>
          <a:p>
            <a:r>
              <a:rPr lang="en-US" dirty="0"/>
              <a:t>OpenStack</a:t>
            </a:r>
          </a:p>
          <a:p>
            <a:r>
              <a:rPr lang="en-US" dirty="0" err="1"/>
              <a:t>OpenNebula</a:t>
            </a:r>
            <a:endParaRPr lang="en-US" dirty="0"/>
          </a:p>
          <a:p>
            <a:r>
              <a:rPr lang="en-US" b="1" i="0" dirty="0">
                <a:solidFill>
                  <a:srgbClr val="000000"/>
                </a:solidFill>
                <a:effectLst/>
                <a:latin typeface="Book Antiqua" panose="02040602050305030304" pitchFamily="18" charset="0"/>
              </a:rPr>
              <a:t>Eucalyptus</a:t>
            </a:r>
          </a:p>
          <a:p>
            <a:r>
              <a:rPr lang="en-US" b="1" i="0" dirty="0">
                <a:solidFill>
                  <a:srgbClr val="000000"/>
                </a:solidFill>
                <a:effectLst/>
                <a:latin typeface="Book Antiqua" panose="02040602050305030304" pitchFamily="18" charset="0"/>
              </a:rPr>
              <a:t>Apache </a:t>
            </a:r>
            <a:r>
              <a:rPr lang="en-US" b="1" i="0" dirty="0" err="1">
                <a:solidFill>
                  <a:srgbClr val="000000"/>
                </a:solidFill>
                <a:effectLst/>
                <a:latin typeface="Book Antiqua" panose="02040602050305030304" pitchFamily="18" charset="0"/>
              </a:rPr>
              <a:t>CloudStack</a:t>
            </a:r>
            <a:endParaRPr lang="en-US" b="1" dirty="0">
              <a:solidFill>
                <a:srgbClr val="000000"/>
              </a:solidFill>
              <a:latin typeface="Book Antiqua" panose="02040602050305030304" pitchFamily="18" charset="0"/>
            </a:endParaRPr>
          </a:p>
          <a:p>
            <a:r>
              <a:rPr lang="en-US" b="0" i="0" dirty="0">
                <a:solidFill>
                  <a:srgbClr val="000000"/>
                </a:solidFill>
                <a:effectLst/>
                <a:latin typeface="Book Antiqua" panose="02040602050305030304" pitchFamily="18" charset="0"/>
              </a:rPr>
              <a:t>Microsoft’s </a:t>
            </a:r>
            <a:r>
              <a:rPr lang="en-US" b="1" i="0" dirty="0">
                <a:solidFill>
                  <a:srgbClr val="000000"/>
                </a:solidFill>
                <a:effectLst/>
                <a:latin typeface="Book Antiqua" panose="02040602050305030304" pitchFamily="18" charset="0"/>
              </a:rPr>
              <a:t>Azure Stack</a:t>
            </a:r>
            <a:endParaRPr lang="en-US" dirty="0"/>
          </a:p>
          <a:p>
            <a:endParaRPr lang="en-US" dirty="0"/>
          </a:p>
        </p:txBody>
      </p:sp>
    </p:spTree>
    <p:extLst>
      <p:ext uri="{BB962C8B-B14F-4D97-AF65-F5344CB8AC3E}">
        <p14:creationId xmlns:p14="http://schemas.microsoft.com/office/powerpoint/2010/main" val="1572870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7778-E6B9-550C-7B0A-8C1F8243F837}"/>
              </a:ext>
            </a:extLst>
          </p:cNvPr>
          <p:cNvSpPr>
            <a:spLocks noGrp="1"/>
          </p:cNvSpPr>
          <p:nvPr>
            <p:ph type="title"/>
          </p:nvPr>
        </p:nvSpPr>
        <p:spPr/>
        <p:txBody>
          <a:bodyPr>
            <a:noAutofit/>
          </a:bodyPr>
          <a:lstStyle/>
          <a:p>
            <a:r>
              <a:rPr lang="en-US" sz="3600" dirty="0"/>
              <a:t>IaaS is particularly suitable for situations:</a:t>
            </a:r>
          </a:p>
        </p:txBody>
      </p:sp>
      <p:sp>
        <p:nvSpPr>
          <p:cNvPr id="3" name="Content Placeholder 2">
            <a:extLst>
              <a:ext uri="{FF2B5EF4-FFF2-40B4-BE49-F238E27FC236}">
                <a16:creationId xmlns:a16="http://schemas.microsoft.com/office/drawing/2014/main" id="{9656E15C-BA1E-086D-0EC3-781CFCF9AFE5}"/>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New </a:t>
            </a:r>
            <a:r>
              <a:rPr lang="en-US" dirty="0" err="1"/>
              <a:t>organisations</a:t>
            </a:r>
            <a:r>
              <a:rPr lang="en-US" dirty="0"/>
              <a:t> without the capital to invest in hardware</a:t>
            </a:r>
          </a:p>
          <a:p>
            <a:pPr>
              <a:buFont typeface="Arial" panose="020B0604020202020204" pitchFamily="34" charset="0"/>
              <a:buChar char="•"/>
            </a:pPr>
            <a:r>
              <a:rPr lang="en-US" dirty="0" err="1"/>
              <a:t>Organisations</a:t>
            </a:r>
            <a:r>
              <a:rPr lang="en-US" dirty="0"/>
              <a:t> that are growing rapidly but purchasing additional hardware would be prohibitive</a:t>
            </a:r>
          </a:p>
          <a:p>
            <a:pPr>
              <a:buFont typeface="Arial" panose="020B0604020202020204" pitchFamily="34" charset="0"/>
              <a:buChar char="•"/>
            </a:pPr>
            <a:r>
              <a:rPr lang="en-US" dirty="0"/>
              <a:t>Speculative development of new lines of business without the need to invest in infrastructure components.</a:t>
            </a:r>
          </a:p>
          <a:p>
            <a:endParaRPr lang="en-US" dirty="0"/>
          </a:p>
        </p:txBody>
      </p:sp>
    </p:spTree>
    <p:extLst>
      <p:ext uri="{BB962C8B-B14F-4D97-AF65-F5344CB8AC3E}">
        <p14:creationId xmlns:p14="http://schemas.microsoft.com/office/powerpoint/2010/main" val="3626010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9995B-2348-F3A2-382E-06B51B652D53}"/>
              </a:ext>
            </a:extLst>
          </p:cNvPr>
          <p:cNvSpPr>
            <a:spLocks noGrp="1"/>
          </p:cNvSpPr>
          <p:nvPr>
            <p:ph type="title"/>
          </p:nvPr>
        </p:nvSpPr>
        <p:spPr/>
        <p:txBody>
          <a:bodyPr>
            <a:normAutofit fontScale="90000"/>
          </a:bodyPr>
          <a:lstStyle/>
          <a:p>
            <a:r>
              <a:rPr lang="en-US" dirty="0"/>
              <a:t>A good candidate for IaaS</a:t>
            </a:r>
          </a:p>
        </p:txBody>
      </p:sp>
      <p:sp>
        <p:nvSpPr>
          <p:cNvPr id="3" name="Content Placeholder 2">
            <a:extLst>
              <a:ext uri="{FF2B5EF4-FFF2-40B4-BE49-F238E27FC236}">
                <a16:creationId xmlns:a16="http://schemas.microsoft.com/office/drawing/2014/main" id="{37EA4EBB-D901-DEC9-C44B-AC8819A54225}"/>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dirty="0"/>
              <a:t>High business growth that outpaces infrastructure capabilities</a:t>
            </a:r>
          </a:p>
          <a:p>
            <a:pPr>
              <a:buFont typeface="Arial" panose="020B0604020202020204" pitchFamily="34" charset="0"/>
              <a:buChar char="•"/>
            </a:pPr>
            <a:r>
              <a:rPr lang="en-US" dirty="0"/>
              <a:t>Unpredictable spikes in demand for infrastructure services</a:t>
            </a:r>
          </a:p>
          <a:p>
            <a:pPr>
              <a:buFont typeface="Arial" panose="020B0604020202020204" pitchFamily="34" charset="0"/>
              <a:buChar char="•"/>
            </a:pPr>
            <a:r>
              <a:rPr lang="en-US" dirty="0"/>
              <a:t>Low utilization of existing infrastructure resources</a:t>
            </a:r>
          </a:p>
          <a:p>
            <a:pPr>
              <a:buFont typeface="Arial" panose="020B0604020202020204" pitchFamily="34" charset="0"/>
              <a:buChar char="•"/>
            </a:pPr>
            <a:r>
              <a:rPr lang="en-US" dirty="0"/>
              <a:t>Large volumes of data that overwhelm on-premises data stores</a:t>
            </a:r>
          </a:p>
          <a:p>
            <a:pPr>
              <a:buFont typeface="Arial" panose="020B0604020202020204" pitchFamily="34" charset="0"/>
              <a:buChar char="•"/>
            </a:pPr>
            <a:r>
              <a:rPr lang="en-US" dirty="0"/>
              <a:t>Slow response times with on-premises applications </a:t>
            </a:r>
          </a:p>
          <a:p>
            <a:pPr>
              <a:buFont typeface="Arial" panose="020B0604020202020204" pitchFamily="34" charset="0"/>
              <a:buChar char="•"/>
            </a:pPr>
            <a:r>
              <a:rPr lang="en-US" dirty="0"/>
              <a:t>Application performance limitations due to capacity constraints</a:t>
            </a:r>
          </a:p>
          <a:p>
            <a:pPr>
              <a:buFont typeface="Arial" panose="020B0604020202020204" pitchFamily="34" charset="0"/>
              <a:buChar char="•"/>
            </a:pPr>
            <a:r>
              <a:rPr lang="en-US" dirty="0"/>
              <a:t>Slow hardware refresh cycles</a:t>
            </a:r>
          </a:p>
        </p:txBody>
      </p:sp>
    </p:spTree>
    <p:extLst>
      <p:ext uri="{BB962C8B-B14F-4D97-AF65-F5344CB8AC3E}">
        <p14:creationId xmlns:p14="http://schemas.microsoft.com/office/powerpoint/2010/main" val="882445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C0728-20DE-9806-48E5-B17467CCBB27}"/>
              </a:ext>
            </a:extLst>
          </p:cNvPr>
          <p:cNvSpPr>
            <a:spLocks noGrp="1"/>
          </p:cNvSpPr>
          <p:nvPr>
            <p:ph type="title"/>
          </p:nvPr>
        </p:nvSpPr>
        <p:spPr/>
        <p:txBody>
          <a:bodyPr>
            <a:normAutofit fontScale="90000"/>
          </a:bodyPr>
          <a:lstStyle/>
          <a:p>
            <a:r>
              <a:rPr lang="en-US" dirty="0"/>
              <a:t>Use Cases</a:t>
            </a:r>
          </a:p>
        </p:txBody>
      </p:sp>
      <p:sp>
        <p:nvSpPr>
          <p:cNvPr id="3" name="Content Placeholder 2">
            <a:extLst>
              <a:ext uri="{FF2B5EF4-FFF2-40B4-BE49-F238E27FC236}">
                <a16:creationId xmlns:a16="http://schemas.microsoft.com/office/drawing/2014/main" id="{E10192AF-C9BC-F969-79D7-EB6901341C4E}"/>
              </a:ext>
            </a:extLst>
          </p:cNvPr>
          <p:cNvSpPr>
            <a:spLocks noGrp="1"/>
          </p:cNvSpPr>
          <p:nvPr>
            <p:ph idx="1"/>
          </p:nvPr>
        </p:nvSpPr>
        <p:spPr/>
        <p:txBody>
          <a:bodyPr/>
          <a:lstStyle/>
          <a:p>
            <a:r>
              <a:rPr lang="en-US" b="1" dirty="0"/>
              <a:t>Run testing and development</a:t>
            </a:r>
          </a:p>
          <a:p>
            <a:r>
              <a:rPr lang="en-US" b="1" dirty="0"/>
              <a:t>Perform big data analysis</a:t>
            </a:r>
          </a:p>
          <a:p>
            <a:r>
              <a:rPr lang="en-US" b="1" dirty="0"/>
              <a:t>Handle spikes in traffic</a:t>
            </a:r>
          </a:p>
          <a:p>
            <a:r>
              <a:rPr lang="en-US" b="1" dirty="0"/>
              <a:t>Provision resources quickly</a:t>
            </a:r>
          </a:p>
          <a:p>
            <a:r>
              <a:rPr lang="en-US" b="1" dirty="0"/>
              <a:t>Improve disaster recovery preparation</a:t>
            </a:r>
          </a:p>
          <a:p>
            <a:pPr marL="0" indent="0">
              <a:buNone/>
            </a:pPr>
            <a:endParaRPr lang="en-US" dirty="0"/>
          </a:p>
        </p:txBody>
      </p:sp>
    </p:spTree>
    <p:extLst>
      <p:ext uri="{BB962C8B-B14F-4D97-AF65-F5344CB8AC3E}">
        <p14:creationId xmlns:p14="http://schemas.microsoft.com/office/powerpoint/2010/main" val="654357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7DDC-1EF0-0CD1-54D7-5E251E0E9573}"/>
              </a:ext>
            </a:extLst>
          </p:cNvPr>
          <p:cNvSpPr>
            <a:spLocks noGrp="1"/>
          </p:cNvSpPr>
          <p:nvPr>
            <p:ph type="title"/>
          </p:nvPr>
        </p:nvSpPr>
        <p:spPr/>
        <p:txBody>
          <a:bodyPr>
            <a:normAutofit fontScale="90000"/>
          </a:bodyPr>
          <a:lstStyle/>
          <a:p>
            <a:r>
              <a:rPr lang="en-US" b="1" dirty="0"/>
              <a:t>IaaS pros </a:t>
            </a:r>
            <a:endParaRPr lang="en-US" dirty="0"/>
          </a:p>
        </p:txBody>
      </p:sp>
      <p:sp>
        <p:nvSpPr>
          <p:cNvPr id="3" name="Content Placeholder 2">
            <a:extLst>
              <a:ext uri="{FF2B5EF4-FFF2-40B4-BE49-F238E27FC236}">
                <a16:creationId xmlns:a16="http://schemas.microsoft.com/office/drawing/2014/main" id="{C44109F1-82E6-88F5-C382-EFCA83470EEB}"/>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Highest level of control over infrastructure</a:t>
            </a:r>
          </a:p>
          <a:p>
            <a:pPr>
              <a:buFont typeface="Arial" panose="020B0604020202020204" pitchFamily="34" charset="0"/>
              <a:buChar char="•"/>
            </a:pPr>
            <a:r>
              <a:rPr lang="en-US" dirty="0"/>
              <a:t>On-demand scalability</a:t>
            </a:r>
          </a:p>
          <a:p>
            <a:pPr>
              <a:buFont typeface="Arial" panose="020B0604020202020204" pitchFamily="34" charset="0"/>
              <a:buChar char="•"/>
            </a:pPr>
            <a:r>
              <a:rPr lang="en-US" dirty="0"/>
              <a:t>No single point of failure for higher reliability</a:t>
            </a:r>
          </a:p>
          <a:p>
            <a:pPr>
              <a:buFont typeface="Arial" panose="020B0604020202020204" pitchFamily="34" charset="0"/>
              <a:buChar char="•"/>
            </a:pPr>
            <a:r>
              <a:rPr lang="en-US" dirty="0"/>
              <a:t>Reduced upfront capital expenditures (for example, pay-as-you-go pricing)</a:t>
            </a:r>
          </a:p>
          <a:p>
            <a:pPr>
              <a:buFont typeface="Arial" panose="020B0604020202020204" pitchFamily="34" charset="0"/>
              <a:buChar char="•"/>
            </a:pPr>
            <a:r>
              <a:rPr lang="en-US" dirty="0"/>
              <a:t>Fewer provisioning delays and wasted resources </a:t>
            </a:r>
          </a:p>
          <a:p>
            <a:pPr>
              <a:buFont typeface="Arial" panose="020B0604020202020204" pitchFamily="34" charset="0"/>
              <a:buChar char="•"/>
            </a:pPr>
            <a:r>
              <a:rPr lang="en-US" dirty="0"/>
              <a:t>Accelerated development and time to market</a:t>
            </a:r>
          </a:p>
          <a:p>
            <a:endParaRPr lang="en-US" dirty="0"/>
          </a:p>
        </p:txBody>
      </p:sp>
    </p:spTree>
    <p:extLst>
      <p:ext uri="{BB962C8B-B14F-4D97-AF65-F5344CB8AC3E}">
        <p14:creationId xmlns:p14="http://schemas.microsoft.com/office/powerpoint/2010/main" val="1381883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5A91C-A1E7-0CED-6D31-71DA141DD357}"/>
              </a:ext>
            </a:extLst>
          </p:cNvPr>
          <p:cNvSpPr>
            <a:spLocks noGrp="1"/>
          </p:cNvSpPr>
          <p:nvPr>
            <p:ph type="title"/>
          </p:nvPr>
        </p:nvSpPr>
        <p:spPr/>
        <p:txBody>
          <a:bodyPr>
            <a:normAutofit fontScale="90000"/>
          </a:bodyPr>
          <a:lstStyle/>
          <a:p>
            <a:r>
              <a:rPr lang="en-US" b="1" dirty="0"/>
              <a:t>IaaS cons </a:t>
            </a:r>
            <a:endParaRPr lang="en-US" dirty="0"/>
          </a:p>
        </p:txBody>
      </p:sp>
      <p:sp>
        <p:nvSpPr>
          <p:cNvPr id="3" name="Content Placeholder 2">
            <a:extLst>
              <a:ext uri="{FF2B5EF4-FFF2-40B4-BE49-F238E27FC236}">
                <a16:creationId xmlns:a16="http://schemas.microsoft.com/office/drawing/2014/main" id="{820945B2-EFC8-DB29-1B25-5AD3179DCF6B}"/>
              </a:ext>
            </a:extLst>
          </p:cNvPr>
          <p:cNvSpPr>
            <a:spLocks noGrp="1"/>
          </p:cNvSpPr>
          <p:nvPr>
            <p:ph idx="1"/>
          </p:nvPr>
        </p:nvSpPr>
        <p:spPr/>
        <p:txBody>
          <a:bodyPr/>
          <a:lstStyle/>
          <a:p>
            <a:pPr>
              <a:buFont typeface="Arial" panose="020B0604020202020204" pitchFamily="34" charset="0"/>
              <a:buChar char="•"/>
            </a:pPr>
            <a:r>
              <a:rPr lang="en-US" dirty="0"/>
              <a:t>Responsible for your own data security and recovery</a:t>
            </a:r>
          </a:p>
          <a:p>
            <a:pPr>
              <a:buFont typeface="Arial" panose="020B0604020202020204" pitchFamily="34" charset="0"/>
              <a:buChar char="•"/>
            </a:pPr>
            <a:r>
              <a:rPr lang="en-US" dirty="0"/>
              <a:t>Requires hands-on configuration and maintenance </a:t>
            </a:r>
          </a:p>
          <a:p>
            <a:pPr>
              <a:buFont typeface="Arial" panose="020B0604020202020204" pitchFamily="34" charset="0"/>
              <a:buChar char="•"/>
            </a:pPr>
            <a:r>
              <a:rPr lang="en-US" dirty="0"/>
              <a:t>Difficulties securing legacy applications on cloud-based infrastructure</a:t>
            </a:r>
          </a:p>
          <a:p>
            <a:endParaRPr lang="en-US" dirty="0"/>
          </a:p>
        </p:txBody>
      </p:sp>
    </p:spTree>
    <p:extLst>
      <p:ext uri="{BB962C8B-B14F-4D97-AF65-F5344CB8AC3E}">
        <p14:creationId xmlns:p14="http://schemas.microsoft.com/office/powerpoint/2010/main" val="226413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513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12B6E1E449A384FBC2BCC2E862CC59C" ma:contentTypeVersion="0" ma:contentTypeDescription="Create a new document." ma:contentTypeScope="" ma:versionID="aa208918cba8d8d116f29b652815dc4a">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B4517F-5098-425F-82F7-79E9EC53F72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9E5C0EC-8752-4BBB-ABF7-5612FC0EBA72}">
  <ds:schemaRefs>
    <ds:schemaRef ds:uri="http://schemas.microsoft.com/sharepoint/v3/contenttype/forms"/>
  </ds:schemaRefs>
</ds:datastoreItem>
</file>

<file path=customXml/itemProps3.xml><?xml version="1.0" encoding="utf-8"?>
<ds:datastoreItem xmlns:ds="http://schemas.openxmlformats.org/officeDocument/2006/customXml" ds:itemID="{32DFBEAC-0681-43B3-B2DC-7C2E80F7EA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2580</TotalTime>
  <Words>555</Words>
  <Application>Microsoft Office PowerPoint</Application>
  <PresentationFormat>Affichage à l'écran (4:3)</PresentationFormat>
  <Paragraphs>71</Paragraphs>
  <Slides>19</Slides>
  <Notes>4</Notes>
  <HiddenSlides>0</HiddenSlides>
  <MMClips>0</MMClips>
  <ScaleCrop>false</ScaleCrop>
  <HeadingPairs>
    <vt:vector size="4" baseType="variant">
      <vt:variant>
        <vt:lpstr>Thème</vt:lpstr>
      </vt:variant>
      <vt:variant>
        <vt:i4>1</vt:i4>
      </vt:variant>
      <vt:variant>
        <vt:lpstr>Titres des diapositives</vt:lpstr>
      </vt:variant>
      <vt:variant>
        <vt:i4>19</vt:i4>
      </vt:variant>
    </vt:vector>
  </HeadingPairs>
  <TitlesOfParts>
    <vt:vector size="20" baseType="lpstr">
      <vt:lpstr>Office Theme</vt:lpstr>
      <vt:lpstr>IaaS</vt:lpstr>
      <vt:lpstr>Definition (NIST)</vt:lpstr>
      <vt:lpstr>Definition (google cloud)</vt:lpstr>
      <vt:lpstr>Definition (AWS)</vt:lpstr>
      <vt:lpstr>Definition (Azure)</vt:lpstr>
      <vt:lpstr>Présentation PowerPoint</vt:lpstr>
      <vt:lpstr>Types of IaaS resources</vt:lpstr>
      <vt:lpstr>Présentation PowerPoint</vt:lpstr>
      <vt:lpstr>Présentation PowerPoint</vt:lpstr>
      <vt:lpstr>IaaS Component Stack</vt:lpstr>
      <vt:lpstr>Présentation PowerPoint</vt:lpstr>
      <vt:lpstr>Examples Public IaaS</vt:lpstr>
      <vt:lpstr>Example Private IaaS</vt:lpstr>
      <vt:lpstr>IaaS is particularly suitable for situations:</vt:lpstr>
      <vt:lpstr>A good candidate for IaaS</vt:lpstr>
      <vt:lpstr>Use Cases</vt:lpstr>
      <vt:lpstr>IaaS pros </vt:lpstr>
      <vt:lpstr>IaaS cons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Gandalf</dc:creator>
  <cp:lastModifiedBy>Ibrahim Narayana</cp:lastModifiedBy>
  <cp:revision>563</cp:revision>
  <dcterms:created xsi:type="dcterms:W3CDTF">2017-01-07T07:13:05Z</dcterms:created>
  <dcterms:modified xsi:type="dcterms:W3CDTF">2025-11-27T03:16:18Z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0x010100E12B6E1E449A384FBC2BCC2E862CC59C</vt:lpwstr>
  </property>
</Properties>
</file>